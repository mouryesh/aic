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2870" r:id="rId7"/>
    <p:sldId id="1906872563" r:id="rId9"/>
    <p:sldId id="1906872569" r:id="rId10"/>
    <p:sldId id="1906872570" r:id="rId11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9" r:id="rId28"/>
    <p:sldId id="1906872580" r:id="rId29"/>
    <p:sldId id="1906872581" r:id="rId30"/>
    <p:sldId id="1906872582" r:id="rId31"/>
    <p:sldId id="1906872583" r:id="rId32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Factories can only monitor what they instrumented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Problem framing — Track 4, DigitalTwin.ai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Assembly lines mix legacy and modern equipment. Some stations are richly instrumented; a meaningful minority run on manual checklists and emit no telemetry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 defect introduced early may not surface until a much later gate, by which time many downstream units carry the same undetected issue.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3716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WHY "ADD SENSORS" IS NOT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Retrofits are limited to a small number of scheduled maintenance windows per year. The constraint is the calendar as much as the capital.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WHERE THE VALUE SITS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The stations most likely to hide a developing problem are exactly the ones nobody is watching. Inferring their state is the opportunity.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61688"/>
            <a:ext cx="11185855" cy="74980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89704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In our simulation, 78% of disturbances at un-instrumented stations never produced a sustained line-level throughput shortfall (n=27). Aggregate monitoring would not have caught them later — it would not have caught them at 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Quoted conditions are from the official Round 2 brief. The measured figure is a simulated prototype result on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8095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 (Team Leader)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4018" y="2405772"/>
            <a:ext cx="1434219" cy="1471323"/>
          </a:xfrm>
          <a:prstGeom prst="rect">
            <a:avLst/>
          </a:prstGeom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3" y="2098914"/>
            <a:ext cx="143729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Round 1 proposed the idea. Round 2 tests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What changed, and what we had to prove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540"/>
                <a:gridCol w="2964925"/>
                <a:gridCol w="619938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1 — concept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2 — this submission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Shadow-sensing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asserted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two implemented mechanisms: flow physics + defect genealogy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Hidden state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"a live health signal"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cycle time of an unmeasured station, graded against ground truth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Prediction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"predicts, not visualises"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forward flow arithmetic: vehicles lost, minutes to starvation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Differentiation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 baselines at a matched false-alarm rate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Partial sensors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coverage sweep, 100% → 25% instrumentation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Human in the loop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 the diagram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hash-chained ledger,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110 held-out episodes, 216 passing tests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Round 1 argued the idea was worth testing. This is the test — including the parts we failed.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mechanism: the line measures its own blind spots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Conservation of material, not a learned correlation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A1A1A"/>
                </a:solidFill>
                <a:latin typeface="Arial"/>
              </a:rPr>
              <a:t>When a station slows, material stops arriving downstream and stops leaving upstream. Every station downstream STARVES. Every station upstream BLOCKS. The boundary between them sits exactly at the station causing it — so we never need a sensor AT that station, only sensors on both sides of it.</a:t>
            </a:r>
          </a:p>
        </p:txBody>
      </p:sp>
      <p:pic>
        <p:nvPicPr>
          <p:cNvPr id="7" name="Picture 6" descr="pressur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9246769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A correlation model sees S07 blocking and S09 starving and cannot say which caused which. The flow model knows the direction of causation a priori — material moves one way.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This part is not our idea — and we say 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mechanism is the Turning Point Method, Li, Chang &amp; Ni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The blockage/starvation boundary is one of the best-established bottleneck-detection methods in manufacturing science. We implement it as a baseline rather than quietly reinventing it. Our contribution is what happens when the boundary falls in a gap with no sensors.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Turning Point Method — detects the disturbance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4418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4418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…but names the right station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21031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7900" y="22219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69%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7900" y="27066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names the right station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It is not that the published method is bad. It detects as reliably as we do — better, at 50% coverage. It simply cannot name a station it cannot measure.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3977639"/>
          <a:ext cx="1118585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1679"/>
                <a:gridCol w="4238850"/>
                <a:gridCol w="494532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Published Turning Point / Active Period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Output space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instrumented stations only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every station, instrumented or not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Decision rule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deterministic scan for a sign change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posterior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station adjacency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buffer capacity — a 14-slot buffer decouples far more than 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Unidentifiable cases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always returns a station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abstains, and flags it for a sensor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Hidden station state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estimates its cycle time (~3% median error)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Baseline implemented in the strengthened deviation-scored form — more favourable to it than the published version — and calibrated to the same false-alarm rate. Full citations in docs/REFERENCES.md.</a:t>
            </a: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RippleTwin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Every box has an implementation behind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telemetry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instrumented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054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8856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8856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856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000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mix- and shift-aware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expectations, in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fraction of takt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619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1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421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21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565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posterior over ALL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stations, including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un-sensored 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183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985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985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PREDICTED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29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ripple forecast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flow arithmetic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748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550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550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550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EXPLAINED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694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evidence tagged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OBS / INF / PRED,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no LLM in 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312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114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3114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14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258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approve / reject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or ABSTAIN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310128"/>
            <a:ext cx="11185855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3832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 → hash-chained ledger → per-station precision feeds back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" y="3886200"/>
          <a:ext cx="1118585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741"/>
                <a:gridCol w="3857191"/>
                <a:gridCol w="5142921"/>
              </a:tblGrid>
              <a:tr h="40233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Method chosen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Why not something heavier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Hidden-state estimation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non-negative least squares + Gaussian likelihood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 GNN would learn the propagation we can derive — deriving it is stronger and inspectable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Calibration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empirical null + correlation correction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stations are ~0.4 correlated; assuming independence inflates evidence ~14x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Ripple forecast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serial-line flow arithmetic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engineer can check it on paper, and it cannot drift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templates bound to computed values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LLM narrator can drift from the evidence; here it structurally cannot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Rule we held to: when a simpler method is equally effective, use the simpler method.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we made the comparison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design decisions that make the next slide mean something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MATCHED FALSE-ALARM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Every method is calibrated on the same held-out nominal data to the same 1% per-window false-alarm target, then run through an identical detection rule. Without this, a permissive threshold just looks more sensitive.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ONE PHYSICS RUN, MANY SENSOR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Coverage levels are views over a single simulation, so differences between them are differences in observability — not different random draws.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41732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B2 IS THE SHARP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B2 is RippleTwin's own model with un-sensored stations removed as candidates. Same physics, same likelihood, same tuning. The only difference is whether a blind station may be named — which isolates shadow-sensing itself.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41732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DISJOINT DATA THROUGHOUT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Baseline fitting, detector calibration and evaluation use separate runs. Tuning and test episodes are split by seed; anything chosen by looking at data was chosen on the tuning half.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4389120"/>
          <a:ext cx="11185854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878"/>
                <a:gridCol w="8510976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it represents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B0 — SPC per station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the control chart most plants already run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B1 — Isolation Forest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modern anomaly detection, given the same features, topology-blind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B2 — observed-only twin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 conventional digital twin: models what it measures, silent about the rest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When the faulty station has no sensor, only RippleTwin names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Held-out episodes · flow faults · source station un-instrumented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69%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— exact station, at 75%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Turning Point Method (Li et al. 2009)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Conventional observed-only twin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SPC on sensors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baselines do not merely score badly. They score exactly zero — naming an unmeasured station is outside what they can express.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80360"/>
          <a:ext cx="5577838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9640"/>
                <a:gridCol w="929640"/>
                <a:gridCol w="1098665"/>
                <a:gridCol w="1098665"/>
                <a:gridCol w="845127"/>
                <a:gridCol w="67610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Coverage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B3 Turning Point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B2 obs-only 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B1 anomaly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B0 SPC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coverage_curve_t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43200"/>
            <a:ext cx="5669280" cy="33383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Exact-station localisation while the fault is active, at a matched 1% per-window false-alarm rate. Simulated prototype result on synthetic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control that convinced us the mechanism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At 100% coverage the advantage disappears — exactly as it should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at 100% sensor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402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4418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4C9BE8"/>
                </a:solidFill>
                <a:latin typeface="Arial"/>
              </a:rPr>
              <a:t>93%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4418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Observed-only twin, same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identical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to three decimal places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688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With every station instrumented there is nothing hidden to infer, so shadow-sensing has nothing to add — and it adds nothing. The advantage appears exactly and only where instrumentation is missing.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That is what should happen if the mechanism is real rather than an artefact of better tuning. A method that also won here would be telling us its gains came from somewhere else.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11185855" cy="123444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A100FF"/>
                </a:solidFill>
                <a:latin typeface="Arial"/>
              </a:rPr>
              <a:t>AND THE SHARPEST FALSIFIABLE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RippleTwin estimates the cycle time of a station that has no sensor — a number that is unmeasurable in the data it receives — to a median error of 3.3% at 75% coverage (n=18). The simulator knows the true value, so the estimate is graded, not asserted.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results on synthetic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A detector that never stays quiet is worthless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False alarms, abstention, and the cases where we correctly say nothing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1.4%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false-alarm rate per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alerts on the normal-variation scenario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LINE_SUPPLY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 material delay is attributed to supply, not a station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2B705"/>
                </a:solidFill>
                <a:latin typeface="Arial"/>
              </a:rPr>
              <a:t>ABSTAIN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when adjacent candidates cannot be separated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51460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THRESHOLD IS A DESIGN 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Set from a stated false-alarm target on held-out nominal data, not hand-picked. The brief warns that false alarms erode floor trust quickly — and that trust does not survive being lost twice.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5575" y="2514600"/>
            <a:ext cx="45720" cy="13716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8455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2B705"/>
                </a:solidFill>
                <a:latin typeface="Arial"/>
              </a:rPr>
              <a:t>IT DECLINES TO GUESS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When posterior mass is spread across adjacent blind stations, RippleTwin reports the group and escalates rather than naming one. Those stations become sensor-placement candidates.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24528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Two of our own designs were killed by these tests: a symmetric pressure channel that mis-located faults by one station, and a robust z-score on starvation time that produced a 58% false-alarm rate. Both are documented in the repository rather than buried.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Three users, one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Same inferred state, different horizon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FLOOR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Right now, this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which station, and how sure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why — evidence tagged OBS/INF/PRED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what happens next, in vehicles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one recommended action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approve or reject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69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469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PLANT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85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This week, this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suspicion accumulates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throughput and escape rate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coverage by zone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defects by discovery gate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the decision ledger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646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62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The rollout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value drivers and payback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sensor economics vs retrofit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instrumentation is worth buying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phased rollout and risks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Arial"/>
              </a:rPr>
              <a:t>Throughout, every value carries its provenance: OBSERVED (a sensor read it), INFERRED (we estimated it for a station with none), PREDICTED (it has not happened yet). A supervisor who cannot tell a measurement from an estimate will eventually trust the wrong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Illustrative assumptions, transparent arithmetic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$2,200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contribution margin / vehicle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60/yr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hidden-station disturbances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recovery factor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~1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resulting payback (illustrative)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423160"/>
          <a:ext cx="1118585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116"/>
                <a:gridCol w="6254456"/>
                <a:gridCol w="2285282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 driver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Evidence class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Directed maintenance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names WHICH station, not "somewhere in body shop"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Fewer defect escapes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attributes a defect-type excess to a source before the next gate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Recovered throughput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constraint found before the shortfall compounds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+ ASSUMPTION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Lower instrumentation need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blind stations become inferable rather than dark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Where this is weakest, stated plainly: the model is dominated by margin per recovered vehicle. On a line that is NOT capacity-constrained, a recovered vehicle is worth almost nothing and the throughput driver collapses — so we would qualify the line before selling that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No figure on this slide is measured from a real plant. All inputs are editable in the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Sensor economics: cost is not the binding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calendar is — retrofits wait for a maintenance window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707"/>
                <a:gridCol w="4377073"/>
                <a:gridCol w="437707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Retrofit every blind 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Capital (10 stations)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~$180,000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~$150,000 year 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When it can be installed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scheduled maintenance windows only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against data already recorded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those 10 stations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every station on the line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sensor dies, station goes dark again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inference degrades, and reports that it has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375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We do NOT claim zero sensors. Shadow-sensing needs instrumented stations on both sides of a blind one — that is the mechanism. The claim is narrower and testable: the sensors already installed carry more information about their neighbours than a conventional twin extracts.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coverage experiment is itself a sensor-placement tool: it shows which blind stations inference already covers, and which genuinely need instrumenting — so the retrofit budget goes where it actually buys something.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We do not compete with the sensor budget — we direct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Which blind station to instrument next, computed with no production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A blind station is locatable only if its signature is distinguishable, from the stations we can see, from its neighbours'. Two blind stations side by side are not — and that is knowable from the sensor layout alone, before any data exists.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11680"/>
          <a:ext cx="11185853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984"/>
                <a:gridCol w="1427981"/>
                <a:gridCol w="1427981"/>
                <a:gridCol w="2379969"/>
                <a:gridCol w="4759938"/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Priority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Zone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Currently confusable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Also helps resolve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S37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S38, S33, S35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S32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S33, S37, S35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S37, S35, S33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S32, S37, S35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FINAL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S33, S37, S32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This reframes the whole objection. "Why not just add sensors?" — you should, and this says which ones. RippleTwin sits inside the capital planning cycle, not just the operations budget.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Validated directionally against measured localisation error (r = 0.37 across 24 source stations, few episodes each). Simulated prototype result on synthetic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What we need from your plant, and where we 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data layer is what kills these projects — so it is designed, not assumed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3199" cy="19659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45720" cy="19659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167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FIVE REQUIRED SIGNALS — MOSTLY ALREADY COLLECTED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154015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Station state (running/blocked/starved) · VIN read per station · build sequence with variant · shift calendar · station order and buffer capacities.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Blocked/starved is a standard OEE state, derived at the PLC from infeed/outfeed photocells most stations already have for interlocks.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188720"/>
            <a:ext cx="5483199" cy="19659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188720"/>
            <a:ext cx="45720" cy="196596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167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READ-ONLY, LEVEL 3, ONE 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664208"/>
            <a:ext cx="5154015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Sits at MES/operations level in Purdue terms — or a DMZ historian replica. Writes nothing into OT.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So a pilot needs no control-logic change and no maintenance window to start, and it cannot cause an incident.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~60k rows/day. Laptop scale.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Because blocked and starved are LINE losses, plants exclude them from a station's own OEE and treat them as a nuisance category. This data is widely collected and rarely used — our primary input is waste data the plant already pays to store.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3434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343400"/>
            <a:ext cx="45720" cy="13716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714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2B705"/>
                </a:solidFill>
                <a:latin typeface="Arial"/>
              </a:rPr>
              <a:t>PHASE 0 RUNS IN THE FIRST MEETING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188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 readiness assessment returns FULL / FLOW_ONLY / QUALITY_ONLY / NOT_VIABLE and names the blockers. Its most valuable output is NOT_VIABLE — the answer most failed twin projects should have had before the money was spent.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5575" y="43434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5575" y="434340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44714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AN ALERT BECOMES SOMEBODY'S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48188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Owner role · respond-by from forecast impact · verification prompt · escalation · CMMS payload.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Plus the question supervisors are stuck on: "losing ~12.5 vehicles/hour; deferring to the break costs ~25."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The most-cited failure of these systems is not accuracy — it is that a dashboard shows an alert and nobody owns the next action. See docs/DEPLOYMENT.md.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Phased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Deliberately slow at the start, because trust is spent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2–4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Data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PLC timestamps, gate results and build sequence are recoverable and joinable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5694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5694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5694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422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8–12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5422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5422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Alerts logged, nobody acts. Precision per station measured on the ledger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8468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8468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8468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196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196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Live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196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Supervisors see and act. Adoption and precision on real outcomes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1242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91242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1242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70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 quarters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0970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Plant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0970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Remaining lines; per-line configuration under one week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4016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54016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4016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744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months+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3744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Multi-plant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3744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Other sites and equipment vintages; baseline 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49039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877056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Integration is read-only throughout. RippleTwin writes to no control system — the brief notes that modifying live PLCs carries real operational risk, so the prototype does not, and neither should a pilot.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Risks and limitations, stated before you find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honest version is the one worth reviewing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6665"/>
                <a:gridCol w="1141413"/>
                <a:gridCol w="6277775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 / limitation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Severity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real-world validation — everything is synthetic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shadow-mode pilot before any operational claim; validate the flow signature on one real line's PLC logs first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Value depends on the line being capacity-constrained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qualify during Phase 0; do not sell throughput value to an unconstrained plant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Serial-line assumption in the propagation model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likelihood generalises; the pattern matrix must be rebuilt from the real process graph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Adjacent blind stations are not separable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report the group and abstain; flag as sensor-placement candidates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Alert fatigue kills adoption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threshold from a stated false-alarm target;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An incumbent platform copies the algorithm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algorithm is not the moat — the outcome ledger and sensor-placement position are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Full limitations section in the repository README.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Why this is difficult to dismiss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990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mechanism is derived, not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37360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Conservation of material through a serial line. A judge can check the derivation, and the tests assert it against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04288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2316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advantage is isolated,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761488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B2 is the same model minus hidden candidates. At 100% coverage the two are identical — the gain appears only where instrumentation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28416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4472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claim is falsifiable, and we did the falsifying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785616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Two of our designs were killed by our own measurements and are documented. The metric that would have flattered us most, we report as under-powered.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352544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4714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It is honest about what it does not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809744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Provenance on every number, abstention when ambiguous, and a limitations section we wrote before anyone asked for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100FF"/>
                </a:solidFill>
                <a:latin typeface="Arial"/>
              </a:rPr>
              <a:t>RippleTwin — see the bottleneck before it arrives, even at the stations you can't instrument.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Gupta, Sumit</cp:lastModifiedBy>
  <cp:revision>3</cp:revision>
  <dcterms:created xsi:type="dcterms:W3CDTF">2026-07-24T04:09:52Z</dcterms:created>
  <dcterms:modified xsi:type="dcterms:W3CDTF">2026-08-12T11:52:50Z</dcterms:modified>
</cp:coreProperties>
</file>