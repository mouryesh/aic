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6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94" r:id="rId3"/>
    <p:sldMasterId id="2147483699" r:id="rId4"/>
    <p:sldMasterId id="2147483713" r:id="rId5"/>
  </p:sldMasterIdLst>
  <p:notesMasterIdLst>
    <p:notesMasterId r:id="rId13"/>
  </p:notesMasterIdLst>
  <p:sldIdLst>
    <p:sldId id="820" r:id="rId6"/>
    <p:sldId id="2857" r:id="rId8"/>
    <p:sldId id="2870" r:id="rId7"/>
    <p:sldId id="1906872563" r:id="rId9"/>
    <p:sldId id="1906872569" r:id="rId10"/>
    <p:sldId id="1906872570" r:id="rId11"/>
    <p:sldId id="1906872571" r:id="rId20"/>
    <p:sldId id="1906872572" r:id="rId21"/>
    <p:sldId id="1906872573" r:id="rId22"/>
    <p:sldId id="1906872574" r:id="rId23"/>
    <p:sldId id="1906872575" r:id="rId24"/>
    <p:sldId id="1906872576" r:id="rId25"/>
    <p:sldId id="1906872577" r:id="rId26"/>
    <p:sldId id="1906872578" r:id="rId27"/>
    <p:sldId id="1906872579" r:id="rId28"/>
    <p:sldId id="1906872580" r:id="rId29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5.emf"/><Relationship Id="rId4" Type="http://schemas.openxmlformats.org/officeDocument/2006/relationships/image" Target="../media/image2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8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9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24549" y="358356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3588203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824549" y="1600631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160527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30446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824549" y="228869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228685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28739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816294" y="427162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426978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FC8AB6A1-27E9-4726-8EED-1379C2B79D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99EB2F96-A524-4376-ABC5-3FEBABEBAA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74109FF-31FD-44DD-9BFD-B595E095CC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776" y="1597537"/>
            <a:ext cx="4395264" cy="3523001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>
              <a:lnSpc>
                <a:spcPct val="70000"/>
              </a:lnSpc>
              <a:defRPr sz="7200">
                <a:solidFill>
                  <a:schemeClr val="accent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12731847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3" y="377805"/>
            <a:ext cx="11421740" cy="1565295"/>
          </a:xfrm>
        </p:spPr>
        <p:txBody>
          <a:bodyPr tIns="0" bIns="0" anchor="t">
            <a:normAutofit/>
          </a:bodyPr>
          <a:lstStyle>
            <a:lvl1pPr>
              <a:lnSpc>
                <a:spcPct val="80000"/>
              </a:lnSpc>
              <a:defRPr sz="6000" cap="none">
                <a:solidFill>
                  <a:schemeClr val="tx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44">
            <a:extLst>
              <a:ext uri="{FF2B5EF4-FFF2-40B4-BE49-F238E27FC236}">
                <a16:creationId xmlns:a16="http://schemas.microsoft.com/office/drawing/2014/main" id="{62554568-01B3-4431-8A8E-3067ECE43F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512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06</a:t>
            </a:r>
            <a:endParaRPr lang="en-GB"/>
          </a:p>
        </p:txBody>
      </p:sp>
      <p:sp>
        <p:nvSpPr>
          <p:cNvPr id="71" name="Text Placeholder 44">
            <a:extLst>
              <a:ext uri="{FF2B5EF4-FFF2-40B4-BE49-F238E27FC236}">
                <a16:creationId xmlns:a16="http://schemas.microsoft.com/office/drawing/2014/main" id="{CCA78229-FDF4-4DB6-B436-CBCFEF9314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57730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07</a:t>
            </a:r>
            <a:endParaRPr lang="en-GB"/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17948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08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78166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09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10</a:t>
            </a:r>
            <a:endParaRPr lang="en-GB"/>
          </a:p>
        </p:txBody>
      </p:sp>
      <p:sp>
        <p:nvSpPr>
          <p:cNvPr id="75" name="Text Placeholder 44">
            <a:extLst>
              <a:ext uri="{FF2B5EF4-FFF2-40B4-BE49-F238E27FC236}">
                <a16:creationId xmlns:a16="http://schemas.microsoft.com/office/drawing/2014/main" id="{D012A4F1-1A7B-4861-AAD0-9C8C48E69A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97512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  <a:endParaRPr lang="en-GB"/>
          </a:p>
        </p:txBody>
      </p:sp>
      <p:sp>
        <p:nvSpPr>
          <p:cNvPr id="76" name="Text Placeholder 44">
            <a:extLst>
              <a:ext uri="{FF2B5EF4-FFF2-40B4-BE49-F238E27FC236}">
                <a16:creationId xmlns:a16="http://schemas.microsoft.com/office/drawing/2014/main" id="{87432211-FA1B-4912-9E9D-1B7D1089CA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857730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02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317948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03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78166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04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05</a:t>
            </a:r>
            <a:endParaRPr lang="en-GB"/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39731EE-FBBF-4749-8E58-161D1BD24B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7512" y="315947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">
            <a:extLst>
              <a:ext uri="{FF2B5EF4-FFF2-40B4-BE49-F238E27FC236}">
                <a16:creationId xmlns:a16="http://schemas.microsoft.com/office/drawing/2014/main" id="{53987512-4428-45A6-9E5A-ECC62C5A784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61856" y="314370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317946" y="316263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782290" y="314686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314502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" name="Text Placeholder 2">
            <a:extLst>
              <a:ext uri="{FF2B5EF4-FFF2-40B4-BE49-F238E27FC236}">
                <a16:creationId xmlns:a16="http://schemas.microsoft.com/office/drawing/2014/main" id="{02847DEE-A5F9-4C29-B154-1544212CE4E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89257" y="514240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">
            <a:extLst>
              <a:ext uri="{FF2B5EF4-FFF2-40B4-BE49-F238E27FC236}">
                <a16:creationId xmlns:a16="http://schemas.microsoft.com/office/drawing/2014/main" id="{8FDB1794-F8AB-4138-AAA1-A52DD6E79A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853601" y="512663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09691" y="514556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774035" y="512979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512795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Graphik Regular" panose="020B0503030202060203" pitchFamily="34" charset="0"/>
              </a:defRPr>
            </a:lvl2pPr>
            <a:lvl3pPr>
              <a:defRPr>
                <a:latin typeface="Graphik Regular" panose="020B0503030202060203" pitchFamily="34" charset="0"/>
              </a:defRPr>
            </a:lvl3pPr>
            <a:lvl4pPr>
              <a:defRPr>
                <a:latin typeface="Graphik Regular" panose="020B0503030202060203" pitchFamily="34" charset="0"/>
              </a:defRPr>
            </a:lvl4pPr>
            <a:lvl5pPr>
              <a:defRPr>
                <a:latin typeface="Graphik Regular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Footer Placeholder 6">
            <a:extLst>
              <a:ext uri="{FF2B5EF4-FFF2-40B4-BE49-F238E27FC236}">
                <a16:creationId xmlns:a16="http://schemas.microsoft.com/office/drawing/2014/main" id="{DF893CCF-7E5D-47A2-BEAA-290732009D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29F35-82A7-4CD0-B264-4B8953C83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52728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85725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80975" indent="-180975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D7B9C33-7860-4A78-8365-326155D0DC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75CA6DF9-3D47-44A0-9AE6-EE81F5778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8D1DF11-64D7-450B-92C0-FFBB3964A6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7948321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38F56B-ECAD-430D-86B3-CA43CA930B1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411000" y="1945849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raphik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03EC794A-FC92-4AAF-AE86-050FA799F5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1586DA7-028B-46B2-8DE5-CD490E3A72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CAD60B4-85E8-4266-A468-73C7C71B2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36396688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42A75EB-71CE-4543-ADEB-9A7264CF8B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3807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BCD1C719-53DB-4DE0-999D-A83E05EEDF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46803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933372D4-A8C3-4A0E-8BC4-35430C7D44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00432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12AE7316-6AEE-48C3-B262-F48CA4EEC2F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43428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Graphik" panose="020B0503030202060203" pitchFamily="34" charset="77"/>
              </a:rPr>
              <a:t>Insert text here max</a:t>
            </a:r>
            <a:br>
              <a:rPr lang="en-GB" sz="1400">
                <a:latin typeface="Graphik" panose="020B0503030202060203" pitchFamily="34" charset="77"/>
              </a:rPr>
            </a:br>
            <a:r>
              <a:rPr lang="en-GB" sz="1400">
                <a:latin typeface="Graphik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Graphik" panose="020B0503030202060203" pitchFamily="34" charset="77"/>
              </a:rPr>
              <a:t>pt</a:t>
            </a:r>
            <a:r>
              <a:rPr lang="en-GB" sz="1400">
                <a:latin typeface="Graphik" panose="020B0503030202060203" pitchFamily="34" charset="77"/>
              </a:rPr>
              <a:t> with paragraph spacing 1.0</a:t>
            </a:r>
          </a:p>
        </p:txBody>
      </p:sp>
      <p:sp>
        <p:nvSpPr>
          <p:cNvPr id="23" name="Footer Placeholder 6">
            <a:extLst>
              <a:ext uri="{FF2B5EF4-FFF2-40B4-BE49-F238E27FC236}">
                <a16:creationId xmlns:a16="http://schemas.microsoft.com/office/drawing/2014/main" id="{309F3C08-340B-4262-BE8D-7E0EC29922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4" name="Slide Number Placeholder 9">
            <a:extLst>
              <a:ext uri="{FF2B5EF4-FFF2-40B4-BE49-F238E27FC236}">
                <a16:creationId xmlns:a16="http://schemas.microsoft.com/office/drawing/2014/main" id="{D8EB1850-1114-408C-A2E4-09622ECAB1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F77B05F-F630-4362-9489-073AAEA27D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1F1FA6F-6B29-4B4E-AC66-C4BE76E3CE7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93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E4CAE9FD-CC6F-4B12-A12B-D279A44AE3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8001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</p:spTree>
    <p:extLst>
      <p:ext uri="{BB962C8B-B14F-4D97-AF65-F5344CB8AC3E}">
        <p14:creationId xmlns:p14="http://schemas.microsoft.com/office/powerpoint/2010/main" val="75927270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928174"/>
            <a:ext cx="12191998" cy="44052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812566C2-550C-428D-9F25-97BA6ACC6D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802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50056D35-DC61-4D0F-B0C2-B062F0DD56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5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4F54E055-BFC8-4967-AD47-F082AF139F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02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17A9C8F1-2B45-4232-AB93-26450C4625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5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D7F2FA40-8443-415A-BCEC-57907AD7C3D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802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4DFB22B2-7DED-4F30-9EEB-FB3AE9BC745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5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80618C3C-6BED-4F24-8BC3-0BA6574D0A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317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18039CC1-2EA8-4C41-979B-4D20FB6809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5A1FF5E6-3D7C-4087-AFF1-48A99E04CE2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317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B2C9A29-68E9-4B62-8688-F3255D0DC6F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353E4163-5423-4488-93B4-72E261A04E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17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EC5DB573-F8E8-4DEA-AEA6-9E4D218638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822CE51-5843-4191-8C13-33C560880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94660267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754996"/>
            <a:ext cx="12191998" cy="457845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FFD4091F-4540-47D0-9D89-6BCB0291E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53346DC2-FD7B-49C4-8AAB-B359175B7B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1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AC42A312-9979-4A01-9158-57CD4C8CA3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1000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E6AD4056-7137-4DCF-A115-E508E36FD57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80999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C209F1A0-3F27-4F19-87B3-B17D5D0FF7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103436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8FD5C041-A388-41EA-ABD7-248D2E8C55D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03435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C81EE5FD-7567-45E7-B11B-1CDE922D19C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103434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9538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EABE65-FD93-400B-BAEB-2365B18C10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575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7176E6-F8F4-49FC-A12D-CEB5CA6D60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9575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AF73BDE-319D-4219-A5C1-DEB5792189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7451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DF4D03-0BE8-4D31-82A4-F39747E4BF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7451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12886E8-E82B-4DDD-A8BC-ECFC852D3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85328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FB202F5B-10E0-4D04-965B-2D05E3CD18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85328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B25A7F6-703D-4F00-A0EC-1566C7F2D3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26FD1142-0F2D-45CB-946D-E52751A238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133236912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9DFDC4DC-01F9-4BD6-BF0E-69725B783A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24432DF7-B547-40FF-A825-45A78D2CB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0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33FEC15-78F4-43A2-A63C-053354C1234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43456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5EA5DC18-5421-48CE-8B85-A27A2B4A50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3456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B0E58F9C-D684-471B-BFF1-044DDB7AB07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912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4FEA6FC0-ADA0-43DC-9D26-5E114F07372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5912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8F8EE1D1-37AE-4F77-B057-69366C5878F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8368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91797188-BDCB-4CC5-BCBE-30AD9A4C45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968368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D5BE5DC-7FFD-494C-891B-8A475F26F4E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3A863DAF-BB89-4865-8063-7F6B6BAB45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770A387-6C5D-4E48-960C-8587FDB8A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4062992953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eople op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7E061C87-E253-4832-BFB5-F70B539C645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47889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9A86D32D-DCCA-FB41-AD6B-6114273CE67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815262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B3FA79AB-3280-3942-8811-1F447CF932F4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82635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F226A25B-26CF-1C41-961E-12B3F363E00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50007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06B7DA53-39E1-40DB-8E3D-AC55EE3B9D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29D22D92-75BB-4297-B843-557296E6CB8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E4BED6B8-7C00-4120-ABBA-D82093551A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7E68CA9F-EC78-418D-9A6B-0239F68A44B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89295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9FBF1373-D4D2-4CA6-A203-BB25B6AE23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56667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E87B3F04-4595-45EE-8C80-2D66D058FF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039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FAFD4B38-A351-4DBA-B2B5-067F273948E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991412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</p:spTree>
    <p:extLst>
      <p:ext uri="{BB962C8B-B14F-4D97-AF65-F5344CB8AC3E}">
        <p14:creationId xmlns:p14="http://schemas.microsoft.com/office/powerpoint/2010/main" val="4123792965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and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2756647"/>
            <a:ext cx="11430000" cy="3404441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675CFBC7-8550-4627-B678-91E938DCAA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1000" y="1943955"/>
            <a:ext cx="11430000" cy="631158"/>
          </a:xfr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8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9530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1364265"/>
            <a:ext cx="11430000" cy="4796823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78730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 op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0008FD0-AD04-4958-83B5-7F755546EE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021" y="1162878"/>
            <a:ext cx="8318714" cy="3761961"/>
          </a:xfrm>
        </p:spPr>
        <p:txBody>
          <a:bodyPr tIns="0" bIns="0" anchor="b">
            <a:normAutofit/>
          </a:bodyPr>
          <a:lstStyle>
            <a:lvl1pPr algn="l">
              <a:lnSpc>
                <a:spcPct val="75000"/>
              </a:lnSpc>
              <a:defRPr sz="80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Section</a:t>
            </a:r>
            <a:br>
              <a:rPr lang="en-US"/>
            </a:br>
            <a:r>
              <a:rPr lang="en-US"/>
              <a:t>Divider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7A752BD-0233-480F-B3CC-46DD91E932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020" y="5034169"/>
            <a:ext cx="8318713" cy="1328521"/>
          </a:xfrm>
        </p:spPr>
        <p:txBody>
          <a:bodyPr tIns="0" bIns="0" anchor="t">
            <a:normAutofit/>
          </a:bodyPr>
          <a:lstStyle>
            <a:lvl1pPr algn="l">
              <a:lnSpc>
                <a:spcPct val="90000"/>
              </a:lnSpc>
              <a:defRPr sz="2400" b="0" cap="none">
                <a:solidFill>
                  <a:schemeClr val="bg1"/>
                </a:solidFill>
                <a:latin typeface="+mn-lt"/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92578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op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0BC0154-8F01-45CA-849D-34E3AE00CF0F}"/>
              </a:ext>
            </a:extLst>
          </p:cNvPr>
          <p:cNvGrpSpPr>
            <a:grpSpLocks noChangeAspect="1"/>
          </p:cNvGrpSpPr>
          <p:nvPr/>
        </p:nvGrpSpPr>
        <p:grpSpPr>
          <a:xfrm>
            <a:off x="9554578" y="5833249"/>
            <a:ext cx="2256422" cy="605651"/>
            <a:chOff x="9638475" y="1219200"/>
            <a:chExt cx="1389888" cy="373063"/>
          </a:xfrm>
          <a:effectLst/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AE479CA-D694-4F45-BD11-38BE36BB3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38475" y="1372165"/>
              <a:ext cx="1389888" cy="220098"/>
            </a:xfrm>
            <a:prstGeom prst="rect">
              <a:avLst/>
            </a:prstGeom>
          </p:spPr>
        </p:pic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86BA3475-6F51-4B12-8741-D94FF0367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48925" y="1219200"/>
              <a:ext cx="136525" cy="147638"/>
            </a:xfrm>
            <a:custGeom>
              <a:avLst/>
              <a:gdLst>
                <a:gd name="T0" fmla="*/ 0 w 86"/>
                <a:gd name="T1" fmla="*/ 66 h 93"/>
                <a:gd name="T2" fmla="*/ 50 w 86"/>
                <a:gd name="T3" fmla="*/ 47 h 93"/>
                <a:gd name="T4" fmla="*/ 0 w 86"/>
                <a:gd name="T5" fmla="*/ 27 h 93"/>
                <a:gd name="T6" fmla="*/ 0 w 86"/>
                <a:gd name="T7" fmla="*/ 0 h 93"/>
                <a:gd name="T8" fmla="*/ 86 w 86"/>
                <a:gd name="T9" fmla="*/ 35 h 93"/>
                <a:gd name="T10" fmla="*/ 86 w 86"/>
                <a:gd name="T11" fmla="*/ 57 h 93"/>
                <a:gd name="T12" fmla="*/ 0 w 86"/>
                <a:gd name="T13" fmla="*/ 93 h 93"/>
                <a:gd name="T14" fmla="*/ 0 w 86"/>
                <a:gd name="T15" fmla="*/ 66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6" h="93">
                  <a:moveTo>
                    <a:pt x="0" y="66"/>
                  </a:moveTo>
                  <a:lnTo>
                    <a:pt x="50" y="47"/>
                  </a:lnTo>
                  <a:lnTo>
                    <a:pt x="0" y="27"/>
                  </a:lnTo>
                  <a:lnTo>
                    <a:pt x="0" y="0"/>
                  </a:lnTo>
                  <a:lnTo>
                    <a:pt x="86" y="35"/>
                  </a:lnTo>
                  <a:lnTo>
                    <a:pt x="86" y="57"/>
                  </a:lnTo>
                  <a:lnTo>
                    <a:pt x="0" y="93"/>
                  </a:lnTo>
                  <a:lnTo>
                    <a:pt x="0" y="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91AB612-3710-45D4-9355-B422D880C8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903537"/>
            <a:ext cx="11430000" cy="969963"/>
          </a:xfrm>
          <a:prstGeom prst="rect">
            <a:avLst/>
          </a:prstGeom>
        </p:spPr>
        <p:txBody>
          <a:bodyPr tIns="0" bIns="0" anchor="ctr">
            <a:normAutofit/>
          </a:bodyPr>
          <a:lstStyle>
            <a:lvl1pPr algn="ctr">
              <a:lnSpc>
                <a:spcPct val="80000"/>
              </a:lnSpc>
              <a:defRPr sz="36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Insert title at 36pt, min 30pt</a:t>
            </a:r>
          </a:p>
        </p:txBody>
      </p:sp>
    </p:spTree>
    <p:extLst>
      <p:ext uri="{BB962C8B-B14F-4D97-AF65-F5344CB8AC3E}">
        <p14:creationId xmlns:p14="http://schemas.microsoft.com/office/powerpoint/2010/main" val="20097703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copyr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404CCCA-4129-4663-91C0-1D86079B09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F848CCB8-4740-4B43-BCEF-5A546C1195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281575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urple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77305F73-3F10-4781-AEC1-D21924227102}"/>
              </a:ext>
            </a:extLst>
          </p:cNvPr>
          <p:cNvSpPr txBox="1">
            <a:spLocks/>
          </p:cNvSpPr>
          <p:nvPr/>
        </p:nvSpPr>
        <p:spPr>
          <a:xfrm>
            <a:off x="355739" y="6537399"/>
            <a:ext cx="4141956" cy="161962"/>
          </a:xfrm>
          <a:prstGeom prst="rect">
            <a:avLst/>
          </a:prstGeom>
        </p:spPr>
        <p:txBody>
          <a:bodyPr vert="horz" wrap="square" lIns="0" tIns="60930" rIns="0" bIns="6093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lang="en-US" sz="800" b="0" i="0" kern="1200">
                <a:solidFill>
                  <a:schemeClr val="tx1">
                    <a:alpha val="50000"/>
                  </a:schemeClr>
                </a:solidFill>
                <a:latin typeface="Graphik Regular" panose="020B0503030202060203" pitchFamily="34" charset="77"/>
                <a:ea typeface="Roboto Light" panose="02000000000000000000" pitchFamily="2" charset="0"/>
                <a:cs typeface="Gotham Medium" pitchFamily="2" charset="0"/>
              </a:defRPr>
            </a:lvl1pPr>
            <a:lvl2pPr marL="60944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188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2832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37771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47213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56656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66097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75541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r>
              <a:rPr lang="en-GB" sz="800" dirty="0">
                <a:solidFill>
                  <a:schemeClr val="bg1">
                    <a:alpha val="50000"/>
                  </a:schemeClr>
                </a:solidFill>
              </a:rPr>
              <a:t>Copyright © 2020 Accenture. All rights reserved.</a:t>
            </a:r>
            <a:endParaRPr lang="en-AU" sz="800" dirty="0">
              <a:solidFill>
                <a:schemeClr val="bg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8951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est Master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F3EA-AEAF-C548-BD0C-AD254597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16B7-92BE-DC41-81A1-B94823C5B2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4488" y="1219200"/>
            <a:ext cx="11510962" cy="4838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4E6-DE9C-9B41-A230-03A839F777D8}"/>
              </a:ext>
            </a:extLst>
          </p:cNvPr>
          <p:cNvSpPr txBox="1">
            <a:spLocks/>
          </p:cNvSpPr>
          <p:nvPr/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20631652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1" name="Footer Placeholder 6">
            <a:extLst>
              <a:ext uri="{FF2B5EF4-FFF2-40B4-BE49-F238E27FC236}">
                <a16:creationId xmlns:a16="http://schemas.microsoft.com/office/drawing/2014/main" id="{91C0017E-4521-4295-9033-A405A2FA81F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43EE0978-DC3A-4D86-83BC-C2F42549CA6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74B3D656-7B78-4FFC-881D-DD01CAC5AD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52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9318202-F5EF-4F94-A2FB-2820022F3F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bg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pic>
        <p:nvPicPr>
          <p:cNvPr id="8" name="Picture 7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3337CFDD-6A45-4B8B-A44A-81963DA234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Graphik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Graphik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Graphik Black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Helvetica Neue Medium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Medium"/>
                <a:ea typeface="Graphik Medium"/>
                <a:cs typeface="Graphik Medium"/>
                <a:sym typeface="Helvetica Neue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Graphik Extralight"/>
                <a:ea typeface="Graphik Extralight"/>
                <a:cs typeface="Graphik Extralight"/>
                <a:sym typeface="Helvetica Neue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raphik" panose="020B0503030202060203" pitchFamily="34" charset="77"/>
                <a:ea typeface="Helvetica Neue Light"/>
                <a:cs typeface="Helvetica Neue"/>
                <a:sym typeface="Helvetica Neue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raphik" panose="020B0503030202060203" pitchFamily="34" charset="77"/>
              <a:ea typeface="Helvetica Neue Light"/>
              <a:cs typeface="Helvetica Neue"/>
              <a:sym typeface="Helvetica Neue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Graphik" panose="020B0604020202020204" pitchFamily="34" charset="0"/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Graphik" panose="020B0604020202020204" pitchFamily="34" charset="0"/>
              <a:buChar char="•"/>
              <a:defRPr sz="1800"/>
            </a:lvl3pPr>
            <a:lvl4pPr marL="457189">
              <a:buFont typeface="Graphik"/>
              <a:buChar char="–"/>
              <a:defRPr sz="1600"/>
            </a:lvl4pPr>
            <a:lvl5pPr marL="685783">
              <a:buFont typeface="Graphik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buNone/>
              <a:defRPr sz="1200" b="0" i="0">
                <a:latin typeface="Graphik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Graphik" panose="020B0503030202060203" pitchFamily="34" charset="77"/>
              </a:defRPr>
            </a:lvl5pPr>
            <a:lvl6pPr>
              <a:defRPr sz="1200" b="0" i="0">
                <a:latin typeface="Graphik" panose="020B0503030202060203" pitchFamily="34" charset="77"/>
              </a:defRPr>
            </a:lvl6pPr>
            <a:lvl7pPr>
              <a:defRPr sz="1050" b="0" i="0">
                <a:latin typeface="Graphik" panose="020B0503030202060203" pitchFamily="34" charset="77"/>
              </a:defRPr>
            </a:lvl7pPr>
            <a:lvl9pPr>
              <a:defRPr sz="105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Graphik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Graphik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Graphik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Graphik" panose="020B0503030202060203" pitchFamily="34" charset="77"/>
              </a:defRPr>
            </a:lvl5pPr>
            <a:lvl6pPr>
              <a:defRPr sz="1600" b="0" i="0">
                <a:latin typeface="Graphik" panose="020B0503030202060203" pitchFamily="34" charset="77"/>
              </a:defRPr>
            </a:lvl6pPr>
            <a:lvl7pPr>
              <a:defRPr sz="1200" b="0" i="0">
                <a:latin typeface="Graphik" panose="020B0503030202060203" pitchFamily="34" charset="77"/>
              </a:defRPr>
            </a:lvl7pPr>
            <a:lvl9pPr>
              <a:defRPr sz="12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 Rg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Graphik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Graphik" panose="020B0503030202060203" pitchFamily="34" charset="77"/>
              </a:defRPr>
            </a:lvl1pPr>
            <a:lvl2pPr>
              <a:defRPr sz="1400" b="0" i="0">
                <a:latin typeface="Graphik" panose="020B0503030202060203" pitchFamily="34" charset="77"/>
              </a:defRPr>
            </a:lvl2pPr>
            <a:lvl3pPr>
              <a:defRPr sz="1400" b="0" i="0">
                <a:latin typeface="Graphik" panose="020B0503030202060203" pitchFamily="34" charset="77"/>
              </a:defRPr>
            </a:lvl3pPr>
            <a:lvl4pPr>
              <a:defRPr sz="1050" b="0" i="0">
                <a:latin typeface="Graphik" panose="020B0503030202060203" pitchFamily="34" charset="77"/>
              </a:defRPr>
            </a:lvl4pPr>
            <a:lvl5pPr>
              <a:defRPr sz="105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  <a:lvl7pPr>
              <a:defRPr sz="1100" b="0" i="0">
                <a:latin typeface="Graphik" panose="020B0503030202060203" pitchFamily="34" charset="77"/>
              </a:defRPr>
            </a:lvl7pPr>
            <a:lvl9pPr>
              <a:defRPr sz="1100" b="0" i="0"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Graphik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Graphik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Graphik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4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Graphik" panose="020B0503030202060203" pitchFamily="34" charset="77"/>
              </a:defRPr>
            </a:lvl5pPr>
            <a:lvl6pPr>
              <a:defRPr sz="9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Graphik Semibold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Graphik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Graphik" panose="020B0503030202060203" pitchFamily="34" charset="77"/>
              </a:defRPr>
            </a:lvl5pPr>
            <a:lvl6pPr>
              <a:defRPr sz="1100" b="0" i="0">
                <a:latin typeface="Graphik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Graphik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Graphik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Graphik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GT Sectra Fine Rg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Graphik" panose="020B0604020202020204" pitchFamily="34" charset="0"/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Graphik" panose="020B0604020202020204" pitchFamily="34" charset="0"/>
              <a:buNone/>
              <a:defRPr sz="1400" b="0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Graphik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Graphik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sz="11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Graphik Semibold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Graphik" panose="020B0503030202060203" pitchFamily="34" charset="77"/>
              </a:defRPr>
            </a:lvl1pPr>
            <a:lvl2pPr>
              <a:defRPr sz="1600" b="0" i="0">
                <a:latin typeface="Graphik" panose="020B0503030202060203" pitchFamily="34" charset="77"/>
              </a:defRPr>
            </a:lvl2pPr>
            <a:lvl3pPr>
              <a:defRPr sz="1600" b="0" i="0">
                <a:latin typeface="Graphik" panose="020B0503030202060203" pitchFamily="34" charset="77"/>
              </a:defRPr>
            </a:lvl3pPr>
            <a:lvl4pPr>
              <a:defRPr sz="1400" b="0" i="0">
                <a:latin typeface="Graphik" panose="020B0503030202060203" pitchFamily="34" charset="77"/>
              </a:defRPr>
            </a:lvl4pPr>
            <a:lvl5pPr>
              <a:defRPr sz="14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Graphik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Graphik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Graphik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Graphik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Graphik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Graphik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  <a:lvl2pPr marL="228594" indent="-228594">
              <a:buFont typeface="Graphik" panose="020B0604020202020204" pitchFamily="34" charset="0"/>
              <a:buChar char="•"/>
              <a:defRPr sz="1200" b="0" i="0">
                <a:latin typeface="Graphik" panose="020B0503030202060203" pitchFamily="34" charset="77"/>
              </a:defRPr>
            </a:lvl2pPr>
            <a:lvl3pPr marL="457189">
              <a:buFont typeface="Graphik" panose="020B0503030202060203" pitchFamily="34" charset="0"/>
              <a:buChar char="–"/>
              <a:defRPr sz="1200" b="0" i="0">
                <a:latin typeface="Graphik" panose="020B0503030202060203" pitchFamily="34" charset="77"/>
              </a:defRPr>
            </a:lvl3pPr>
            <a:lvl4pPr marL="685783">
              <a:buFont typeface="Graphik" panose="020B0604020202020204" pitchFamily="34" charset="0"/>
              <a:buChar char="•"/>
              <a:defRPr sz="1100" b="0" i="0">
                <a:latin typeface="Graphik" panose="020B0503030202060203" pitchFamily="34" charset="77"/>
              </a:defRPr>
            </a:lvl4pPr>
            <a:lvl5pPr marL="914377">
              <a:buFont typeface="Graphik" panose="020B0503030202060203" pitchFamily="34" charset="0"/>
              <a:buChar char="–"/>
              <a:defRPr sz="1100" b="0" i="0">
                <a:latin typeface="Graphik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Graphik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Graphik Semibold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Graphik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Graphik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theme" Target="../theme/theme2.xml"/><Relationship Id="rId21" Type="http://schemas.openxmlformats.org/officeDocument/2006/relationships/image" Target="../media/image7.png"/><Relationship Id="rId22" Type="http://schemas.openxmlformats.org/officeDocument/2006/relationships/image" Target="../media/image8.png"/><Relationship Id="rId23" Type="http://schemas.openxmlformats.org/officeDocument/2006/relationships/image" Target="../media/image9.png"/><Relationship Id="rId24" Type="http://schemas.openxmlformats.org/officeDocument/2006/relationships/image" Target="../media/image10.png"/><Relationship Id="rId25" Type="http://schemas.openxmlformats.org/officeDocument/2006/relationships/image" Target="../media/image11.png"/><Relationship Id="rId26" Type="http://schemas.openxmlformats.org/officeDocument/2006/relationships/image" Target="../media/image12.png"/><Relationship Id="rId27" Type="http://schemas.openxmlformats.org/officeDocument/2006/relationships/image" Target="../media/image13.png"/><Relationship Id="rId28" Type="http://schemas.openxmlformats.org/officeDocument/2006/relationships/image" Target="../media/image1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3.xml"/><Relationship Id="rId19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66.xml"/><Relationship Id="rId22" Type="http://schemas.openxmlformats.org/officeDocument/2006/relationships/slideLayout" Target="../slideLayouts/slideLayout67.xml"/><Relationship Id="rId23" Type="http://schemas.openxmlformats.org/officeDocument/2006/relationships/slideLayout" Target="../slideLayouts/slideLayout68.xml"/><Relationship Id="rId24" Type="http://schemas.openxmlformats.org/officeDocument/2006/relationships/slideLayout" Target="../slideLayouts/slideLayout69.xml"/><Relationship Id="rId25" Type="http://schemas.openxmlformats.org/officeDocument/2006/relationships/slideLayout" Target="../slideLayouts/slideLayout70.xml"/><Relationship Id="rId26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3.xml"/><Relationship Id="rId29" Type="http://schemas.openxmlformats.org/officeDocument/2006/relationships/slideLayout" Target="../slideLayouts/slideLayout74.xml"/><Relationship Id="rId30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76.xml"/><Relationship Id="rId32" Type="http://schemas.openxmlformats.org/officeDocument/2006/relationships/slideLayout" Target="../slideLayouts/slideLayout77.xml"/><Relationship Id="rId33" Type="http://schemas.openxmlformats.org/officeDocument/2006/relationships/slideLayout" Target="../slideLayouts/slideLayout78.xml"/><Relationship Id="rId34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0.xml"/><Relationship Id="rId36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3.xml"/><Relationship Id="rId39" Type="http://schemas.openxmlformats.org/officeDocument/2006/relationships/slideLayout" Target="../slideLayouts/slideLayout84.xml"/><Relationship Id="rId40" Type="http://schemas.openxmlformats.org/officeDocument/2006/relationships/slideLayout" Target="../slideLayouts/slideLayout85.xml"/><Relationship Id="rId41" Type="http://schemas.openxmlformats.org/officeDocument/2006/relationships/slideLayout" Target="../slideLayouts/slideLayout86.xml"/><Relationship Id="rId42" Type="http://schemas.openxmlformats.org/officeDocument/2006/relationships/slideLayout" Target="../slideLayouts/slideLayout87.xml"/><Relationship Id="rId43" Type="http://schemas.openxmlformats.org/officeDocument/2006/relationships/slideLayout" Target="../slideLayouts/slideLayout88.xml"/><Relationship Id="rId44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0.xml"/><Relationship Id="rId46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3.xml"/><Relationship Id="rId49" Type="http://schemas.openxmlformats.org/officeDocument/2006/relationships/slideLayout" Target="../slideLayouts/slideLayout94.xml"/><Relationship Id="rId50" Type="http://schemas.openxmlformats.org/officeDocument/2006/relationships/slideLayout" Target="../slideLayouts/slideLayout95.xml"/><Relationship Id="rId51" Type="http://schemas.openxmlformats.org/officeDocument/2006/relationships/slideLayout" Target="../slideLayouts/slideLayout96.xml"/><Relationship Id="rId52" Type="http://schemas.openxmlformats.org/officeDocument/2006/relationships/slideLayout" Target="../slideLayouts/slideLayout97.xml"/><Relationship Id="rId53" Type="http://schemas.openxmlformats.org/officeDocument/2006/relationships/slideLayout" Target="../slideLayouts/slideLayout98.xml"/><Relationship Id="rId54" Type="http://schemas.openxmlformats.org/officeDocument/2006/relationships/slideLayout" Target="../slideLayouts/slideLayout99.xml"/><Relationship Id="rId55" Type="http://schemas.openxmlformats.org/officeDocument/2006/relationships/slideLayout" Target="../slideLayouts/slideLayout100.xml"/><Relationship Id="rId56" Type="http://schemas.openxmlformats.org/officeDocument/2006/relationships/slideLayout" Target="../slideLayouts/slideLayout101.xml"/><Relationship Id="rId57" Type="http://schemas.openxmlformats.org/officeDocument/2006/relationships/slideLayout" Target="../slideLayouts/slideLayout102.xml"/><Relationship Id="rId5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System Font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Graphik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/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6F6B3343-B4EF-4BC5-A753-D80C4EADB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99A5035-44EB-4653-8F65-351427FC9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Accenture_Technology" hidden="1">
            <a:extLst>
              <a:ext uri="{FF2B5EF4-FFF2-40B4-BE49-F238E27FC236}">
                <a16:creationId xmlns:a16="http://schemas.microsoft.com/office/drawing/2014/main" id="{7F561B55-4A32-431D-8BA4-1A51234302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243985"/>
            <a:ext cx="2024293" cy="333289"/>
          </a:xfrm>
          <a:prstGeom prst="rect">
            <a:avLst/>
          </a:prstGeom>
        </p:spPr>
      </p:pic>
      <p:pic>
        <p:nvPicPr>
          <p:cNvPr id="9" name="Accenture_Strategy" hidden="1">
            <a:extLst>
              <a:ext uri="{FF2B5EF4-FFF2-40B4-BE49-F238E27FC236}">
                <a16:creationId xmlns:a16="http://schemas.microsoft.com/office/drawing/2014/main" id="{C33EDD26-4BAD-4452-B33F-48241F98D591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10" name="Accenture_Operations" hidden="1">
            <a:extLst>
              <a:ext uri="{FF2B5EF4-FFF2-40B4-BE49-F238E27FC236}">
                <a16:creationId xmlns:a16="http://schemas.microsoft.com/office/drawing/2014/main" id="{88E87CB4-5755-499D-91D5-9B8DF482A9E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11" name="Accenture_Mobility" hidden="1">
            <a:extLst>
              <a:ext uri="{FF2B5EF4-FFF2-40B4-BE49-F238E27FC236}">
                <a16:creationId xmlns:a16="http://schemas.microsoft.com/office/drawing/2014/main" id="{CADE9D37-50D3-4E92-9D49-2C716078D159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12" name="Accenture_Interactive" hidden="1">
            <a:extLst>
              <a:ext uri="{FF2B5EF4-FFF2-40B4-BE49-F238E27FC236}">
                <a16:creationId xmlns:a16="http://schemas.microsoft.com/office/drawing/2014/main" id="{279B5443-5FDB-4D90-9C86-4ACF31740D6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13" name="Accenture_Analytics" hidden="1">
            <a:extLst>
              <a:ext uri="{FF2B5EF4-FFF2-40B4-BE49-F238E27FC236}">
                <a16:creationId xmlns:a16="http://schemas.microsoft.com/office/drawing/2014/main" id="{7E3C0033-CE00-4F44-B4DA-32082D33C83C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4" name="Accenture_Digital" hidden="1">
            <a:extLst>
              <a:ext uri="{FF2B5EF4-FFF2-40B4-BE49-F238E27FC236}">
                <a16:creationId xmlns:a16="http://schemas.microsoft.com/office/drawing/2014/main" id="{D9D2CA43-44F5-4DDC-AF71-4F5FDFF1B30C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15" name="Accenture_Consulting" hidden="1">
            <a:extLst>
              <a:ext uri="{FF2B5EF4-FFF2-40B4-BE49-F238E27FC236}">
                <a16:creationId xmlns:a16="http://schemas.microsoft.com/office/drawing/2014/main" id="{3344A5AB-F329-4B8E-8006-34B6E40B0028}"/>
              </a:ext>
            </a:extLst>
          </p:cNvPr>
          <p:cNvPicPr>
            <a:picLocks noChangeAspect="1"/>
          </p:cNvPicPr>
          <p:nvPr userDrawn="1"/>
        </p:nvPicPr>
        <p:blipFill>
          <a:blip r:embed="rId2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9" y="6244783"/>
            <a:ext cx="1942440" cy="33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</p:sldLayoutIdLst>
  <p:hf hdr="0" ft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Graphik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Graphik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Graphik Semibold" panose="020B0503030202060203" pitchFamily="34" charset="77"/>
              </a:rPr>
              <a:t>Place headline here in </a:t>
            </a:r>
            <a:r>
              <a:rPr lang="en-US" b="1" i="0" err="1">
                <a:latin typeface="Graphik Semibold" panose="020B0503030202060203" pitchFamily="34" charset="77"/>
              </a:rPr>
              <a:t>Graphik</a:t>
            </a:r>
            <a:r>
              <a:rPr lang="en-US" b="1" i="0">
                <a:latin typeface="Graphik Semibold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Graphik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Graphik Semibold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 Semibold" panose="020B0503030202060203" pitchFamily="34" charset="77"/>
                <a:ea typeface="+mn-ea"/>
                <a:cs typeface="+mn-cs"/>
              </a:rPr>
              <a:t>AI reinvention made real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 Regular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Factories can only monitor what they instrumented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Problem framing — Track 4, DigitalTwin.ai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Assembly lines mix legacy and modern equipment. Some stations are richly instrumented; a meaningful minority run on manual checklists and emit no telemetry at 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23444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234440"/>
            <a:ext cx="45720" cy="137160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THE CONSEQUENCE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70992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A defect introduced early may not surface until a much later gate, by which time many downstream units carry the same undetected issue.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45720" cy="137160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63A3A"/>
                </a:solidFill>
                <a:latin typeface="Arial"/>
              </a:rPr>
              <a:t>WHY "ADD SENSORS" IS NOT THE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Retrofits are limited to a small number of scheduled maintenance windows per year. The constraint is the calendar as much as the capital.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278892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5575" y="278892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WHERE THE VALUE SITS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26440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The stations most likely to hide a developing problem are exactly the ones nobody is watching. Inferring their state is the opportunity.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61688"/>
            <a:ext cx="11185855" cy="74980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89704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In our simulation, 78% of disturbances at un-instrumented stations never produced a sustained line-level throughput shortfall (n=27). Aggregate monitoring would not have caught them later — it would not have caught them at all.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Quoted conditions are from the official Round 2 brief. The measured figure is a simulated prototype result on synthetic data.</a:t>
            </a:r>
          </a:p>
        </p:txBody>
      </p:sp>
    </p:spTree>
    <p:extLst>
      <p:ext uri="{BB962C8B-B14F-4D97-AF65-F5344CB8AC3E}">
        <p14:creationId xmlns:p14="http://schemas.microsoft.com/office/powerpoint/2010/main" val="28095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3E37827-E5D7-46FD-9143-ABFBF88A628E}"/>
              </a:ext>
            </a:extLst>
          </p:cNvPr>
          <p:cNvSpPr/>
          <p:nvPr/>
        </p:nvSpPr>
        <p:spPr>
          <a:xfrm>
            <a:off x="7385349" y="2505161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  <p:pic>
        <p:nvPicPr>
          <p:cNvPr id="23" name="Picture Placeholder 75">
            <a:extLst>
              <a:ext uri="{FF2B5EF4-FFF2-40B4-BE49-F238E27FC236}">
                <a16:creationId xmlns:a16="http://schemas.microsoft.com/office/drawing/2014/main" id="{8DF0ED10-FA32-47BA-8D4F-7620C7B46FA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991" y="2405772"/>
            <a:ext cx="1434219" cy="1471323"/>
          </a:xfrm>
          <a:prstGeom prst="rect">
            <a:avLst/>
          </a:prstGeom>
        </p:spPr>
      </p:pic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1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 (Team Leader)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Graphik"/>
                <a:ea typeface="+mn-ea"/>
                <a:cs typeface="+mn-cs"/>
              </a:rPr>
              <a:t>All fields are mandatory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66E72D5-38A8-4FA5-9EBD-60021A357B2A}"/>
              </a:ext>
            </a:extLst>
          </p:cNvPr>
          <p:cNvSpPr/>
          <p:nvPr/>
        </p:nvSpPr>
        <p:spPr>
          <a:xfrm>
            <a:off x="852718" y="4463806"/>
            <a:ext cx="1481237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Photo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03A2336-9DAB-4FE3-86E5-A5694B473965}"/>
              </a:ext>
            </a:extLst>
          </p:cNvPr>
          <p:cNvCxnSpPr>
            <a:cxnSpLocks/>
          </p:cNvCxnSpPr>
          <p:nvPr/>
        </p:nvCxnSpPr>
        <p:spPr>
          <a:xfrm>
            <a:off x="6096000" y="1521230"/>
            <a:ext cx="0" cy="4523725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Placeholder 27">
            <a:extLst>
              <a:ext uri="{FF2B5EF4-FFF2-40B4-BE49-F238E27FC236}">
                <a16:creationId xmlns:a16="http://schemas.microsoft.com/office/drawing/2014/main" id="{83134DD2-B1F2-44EA-BCAB-CB7F6D0B5057}"/>
              </a:ext>
            </a:extLst>
          </p:cNvPr>
          <p:cNvSpPr txBox="1">
            <a:spLocks/>
          </p:cNvSpPr>
          <p:nvPr/>
        </p:nvSpPr>
        <p:spPr>
          <a:xfrm>
            <a:off x="2751413" y="4203349"/>
            <a:ext cx="147470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57CC230-E21C-4184-9D11-81950CC08A89}"/>
              </a:ext>
            </a:extLst>
          </p:cNvPr>
          <p:cNvCxnSpPr/>
          <p:nvPr/>
        </p:nvCxnSpPr>
        <p:spPr>
          <a:xfrm>
            <a:off x="2751413" y="5101825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Placeholder 75">
            <a:extLst>
              <a:ext uri="{FF2B5EF4-FFF2-40B4-BE49-F238E27FC236}">
                <a16:creationId xmlns:a16="http://schemas.microsoft.com/office/drawing/2014/main" id="{5E355391-27FE-4824-9548-B5688C3FCC2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4018" y="2405772"/>
            <a:ext cx="1434219" cy="1471323"/>
          </a:xfrm>
          <a:prstGeom prst="rect">
            <a:avLst/>
          </a:prstGeom>
        </p:spPr>
      </p:pic>
      <p:sp>
        <p:nvSpPr>
          <p:cNvPr id="67" name="Text Placeholder 27">
            <a:extLst>
              <a:ext uri="{FF2B5EF4-FFF2-40B4-BE49-F238E27FC236}">
                <a16:creationId xmlns:a16="http://schemas.microsoft.com/office/drawing/2014/main" id="{AB89B70E-DDF2-41D3-9411-6AA78204B1DA}"/>
              </a:ext>
            </a:extLst>
          </p:cNvPr>
          <p:cNvSpPr txBox="1">
            <a:spLocks/>
          </p:cNvSpPr>
          <p:nvPr/>
        </p:nvSpPr>
        <p:spPr>
          <a:xfrm>
            <a:off x="9165643" y="2098914"/>
            <a:ext cx="1437297" cy="811161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Graphik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Name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388F804-0525-4F8E-A5CE-A9E521C1E260}"/>
              </a:ext>
            </a:extLst>
          </p:cNvPr>
          <p:cNvCxnSpPr/>
          <p:nvPr/>
        </p:nvCxnSpPr>
        <p:spPr>
          <a:xfrm>
            <a:off x="9151259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/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9131AF-0078-459E-83A3-73A8BC9A11B8}"/>
              </a:ext>
            </a:extLst>
          </p:cNvPr>
          <p:cNvSpPr txBox="1"/>
          <p:nvPr/>
        </p:nvSpPr>
        <p:spPr>
          <a:xfrm>
            <a:off x="2637616" y="5236045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AF310E-EC91-4906-9FCC-95C833C3D011}"/>
              </a:ext>
            </a:extLst>
          </p:cNvPr>
          <p:cNvSpPr txBox="1"/>
          <p:nvPr/>
        </p:nvSpPr>
        <p:spPr>
          <a:xfrm>
            <a:off x="9122721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College: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Stream: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Year of graduation:</a:t>
            </a:r>
          </a:p>
        </p:txBody>
      </p:sp>
      <p:pic>
        <p:nvPicPr>
          <p:cNvPr id="2" name="Picture Placeholder 75">
            <a:extLst>
              <a:ext uri="{FF2B5EF4-FFF2-40B4-BE49-F238E27FC236}">
                <a16:creationId xmlns:a16="http://schemas.microsoft.com/office/drawing/2014/main" id="{5EAA4F6C-4EAD-B06C-205E-12296866797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76635" y="4361533"/>
            <a:ext cx="1434219" cy="147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Round 1 proposed the idea. Round 2 tests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What changed, and what we had to prove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18585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540"/>
                <a:gridCol w="2964925"/>
                <a:gridCol w="6199389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Round 1 — concept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Round 2 — this submission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Shadow-sensing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asserted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two implemented mechanisms: flow physics + defect genealogy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Hidden state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"a live health signal"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cycle time of an unmeasured station, graded against ground truth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Prediction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"predicts, not visualises"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forward flow arithmetic: vehicles lost, minutes to starvation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Differentiation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claimed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3 baselines at a matched false-alarm rate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Partial sensors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claimed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coverage sweep, 100% → 25% instrumentation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Human in the loop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in the diagram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hash-chained ledger, abstention when ambiguous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110 held-out episodes, 45 passing tests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Round 1 argued the idea was worth testing. This is the test — including the parts we failed.</a:t>
            </a:r>
          </a:p>
        </p:txBody>
      </p:sp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The mechanism: the line measures its own blind spots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Conservation of material, not a learned correlation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A1A1A"/>
                </a:solidFill>
                <a:latin typeface="Arial"/>
              </a:rPr>
              <a:t>When a station slows, material stops arriving downstream and stops leaving upstream. Every station downstream STARVES. Every station upstream BLOCKS. The boundary between them sits exactly at the station causing it — so we never need a sensor AT that station, only sensors on both sides of it.</a:t>
            </a:r>
          </a:p>
        </p:txBody>
      </p:sp>
      <p:pic>
        <p:nvPicPr>
          <p:cNvPr id="7" name="Picture 6" descr="pressure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03120"/>
            <a:ext cx="9246769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A correlation model sees S07 blocking and S09 starving and cannot say which caused which. The flow model knows the direction of causation a priori — material moves one way.</a:t>
            </a:r>
          </a:p>
        </p:txBody>
      </p:sp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How RippleTwin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Every box has an implementation behind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telemetry from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instrumented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stations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054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8856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8856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8856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000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mix- and shift-aware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expectations, in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fraction of takt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6194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421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421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421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INFERRED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565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posterior over ALL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stations, including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un-sensored 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183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985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5985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5985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PREDICTED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129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ripple forecast from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flow arithmetic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7484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5500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45500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5500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EXPLAINED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6940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evidence tagged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OBS / INF / PRED,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no LLM in the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03129" y="2057400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1145" y="1371600"/>
            <a:ext cx="1757629" cy="17373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31145" y="1371600"/>
            <a:ext cx="1757629" cy="32918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31145" y="1435608"/>
            <a:ext cx="175762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HUMAN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2585" y="1828800"/>
            <a:ext cx="157474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approve / reject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or ABSTAIN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310128"/>
            <a:ext cx="11185855" cy="384048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338328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 → hash-chained ledger → per-station precision feeds back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502920" y="3886200"/>
          <a:ext cx="1118585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5741"/>
                <a:gridCol w="3857191"/>
                <a:gridCol w="5142921"/>
              </a:tblGrid>
              <a:tr h="40233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Method chosen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Why not something heavier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Hidden-state estimation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non-negative least squares + Gaussian likelihood over candidate positions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 GNN would learn the propagation we can derive — deriving it is stronger and inspectable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Calibration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empirical null + correlation correction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stations are ~0.4 correlated; assuming independence inflates evidence ~14x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Ripple forecast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serial-line flow arithmetic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 engineer can check it on paper, and it cannot drift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Explanation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templates bound to computed values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 LLM narrator can drift from the evidence; here it structurally cannot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Rule we held to: when a simpler method is equally effective, use the simpler method.</a:t>
            </a:r>
          </a:p>
        </p:txBody>
      </p:sp>
    </p:spTree>
    <p:extLst>
      <p:ext uri="{BB962C8B-B14F-4D97-AF65-F5344CB8AC3E}">
        <p14:creationId xmlns:p14="http://schemas.microsoft.com/office/powerpoint/2010/main" val="3845603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r>
              <a:rPr lang="en-US">
                <a:latin typeface="+mj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83931614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How we made the comparison fair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design decisions that make the next slide mean something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45720" cy="1417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MATCHED FALSE-ALARM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0992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Every method is calibrated on the same held-out nominal data to the same 1% per-window false-alarm target, then run through an identical detection rule. Without this, a permissive threshold just looks more sensitive.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5575" y="123444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5575" y="1234440"/>
            <a:ext cx="45720" cy="1417320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136245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100FF"/>
                </a:solidFill>
                <a:latin typeface="Arial"/>
              </a:rPr>
              <a:t>ONE PHYSICS RUN, MANY SENSOR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170992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Coverage levels are views over a single simulation, so differences between them are differences in observability — not different random draws.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78892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45720" cy="1417320"/>
          </a:xfrm>
          <a:prstGeom prst="rect">
            <a:avLst/>
          </a:prstGeom>
          <a:solidFill>
            <a:srgbClr val="D6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63A3A"/>
                </a:solidFill>
                <a:latin typeface="Arial"/>
              </a:rPr>
              <a:t>B2 IS THE SHARP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26440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B2 is RippleTwin's own model with un-sensored stations removed as candidates. Same physics, same likelihood, same tuning. The only difference is whether a blind station may be named — which isolates shadow-sensing itself.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5575" y="2788920"/>
            <a:ext cx="5483199" cy="14173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5575" y="2788920"/>
            <a:ext cx="45720" cy="141732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8455" y="291693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DISJOINT DATA THROUGHOUT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264408"/>
            <a:ext cx="5154015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Baseline fitting, detector calibration and evaluation use separate runs. Tuning and test episodes are split by seed; anything chosen by looking at data was chosen on the tuning half.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4389120"/>
          <a:ext cx="11185854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878"/>
                <a:gridCol w="8510976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it represents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B0 — SPC per station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the control chart most plants already run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B1 — Isolation Forest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modern anomaly detection, given the same features, topology-blind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B2 — observed-only twin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 conventional digital twin: models what it measures, silent about the rest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evaluation on synthetic data.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When the faulty station has no sensor, only RippleTwin names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Held-out episodes · flow faults · source station un-instrumented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69%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— exact station, at 75%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Conventional observed-only twin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Anomaly 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D63A3A"/>
                </a:solidFill>
                <a:latin typeface="Arial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SPC on sensors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395728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baselines do not merely score badly. They score exactly zero — naming an unmeasured station is outside what they can express.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2880360"/>
          <a:ext cx="557784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914400"/>
                <a:gridCol w="822960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Sensor coverage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observed-only 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anomaly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B0 SPC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0" name="Picture 19" descr="coverage_curve_t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43200"/>
            <a:ext cx="5669280" cy="33383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Exact-station localisation while the fault is active, at a matched 1% per-window false-alarm rate. Simulated prototype result on synthetic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The control that convinced us the mechanism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At 100% coverage the advantage disappears — exactly as it should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93%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at 100% sensor coverage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6402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4418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4C9BE8"/>
                </a:solidFill>
                <a:latin typeface="Arial"/>
              </a:rPr>
              <a:t>93%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4418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Observed-only twin, same conditions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9884" y="1188720"/>
            <a:ext cx="3618890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7900" y="1307592"/>
            <a:ext cx="33628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identical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7900" y="1792224"/>
            <a:ext cx="336285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to three decimal places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6888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With every station instrumented there is nothing hidden to infer, so shadow-sensing has nothing to add — and it adds nothing. The advantage appears exactly and only where instrumentation is missing.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Arial"/>
              </a:rPr>
              <a:t>That is what should happen if the mechanism is real rather than an artefact of better tuning. A method that also won here would be telling us its gains came from somewhere else.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94760"/>
            <a:ext cx="11185855" cy="123444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07286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A100FF"/>
                </a:solidFill>
                <a:latin typeface="Arial"/>
              </a:rPr>
              <a:t>AND THE SHARPEST FALSIFIABLE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79392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Arial"/>
              </a:rPr>
              <a:t>RippleTwin estimates the cycle time of a station that has no sensor — a number that is unmeasurable in the data it receives — to a median error of 3.3% at 75% coverage (n=18). The simulator knows the true value, so the estimate is graded, not asserted.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results on synthetic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A detector that never stays quiet is worthless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False alarms, abstention, and the cases where we correctly say nothing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1.4%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RippleTwin false-alarm rate per window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alerts on the normal-variation scenario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F9D55"/>
                </a:solidFill>
                <a:latin typeface="Arial"/>
              </a:rPr>
              <a:t>LINE_SUPPLY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 material delay is attributed to supply, not a station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8872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30759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F2B705"/>
                </a:solidFill>
                <a:latin typeface="Arial"/>
              </a:rPr>
              <a:t>ABSTAIN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9222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when adjacent candidates cannot be separated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146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514600"/>
            <a:ext cx="45720" cy="1371600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426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9D55"/>
                </a:solidFill>
                <a:latin typeface="Arial"/>
              </a:rPr>
              <a:t>THRESHOLD IS A DESIGN PARAMETER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9900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Set from a stated false-alarm target on held-out nominal data, not hand-picked. The brief warns that false alarms erode floor trust quickly — and that trust does not survive being lost twice.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5575" y="2514600"/>
            <a:ext cx="5483199" cy="13716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05575" y="2514600"/>
            <a:ext cx="45720" cy="13716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8455" y="2642616"/>
            <a:ext cx="5154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2B705"/>
                </a:solidFill>
                <a:latin typeface="Arial"/>
              </a:rPr>
              <a:t>IT DECLINES TO GUESS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90088"/>
            <a:ext cx="515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Arial"/>
              </a:rPr>
              <a:t>When posterior mass is spread across adjacent blind stations, RippleTwin reports the group and escalates rather than naming one. Those stations become sensor-placement candidates.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06908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24528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Two of our own designs were killed by these tests: a symmetric pressure channel that mis-located faults by one station, and a robust z-score on starvation time that produced a 58% false-alarm rate. Both are documented in the repository rather than buried.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Simulated prototype evaluation on synthetic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Three users, one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Same inferred state, different horizon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FLOOR SUPERVISOR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Right now, this station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which station, and how sure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why — evidence tagged OBS/INF/PRED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what happens next, in vehicles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one recommended action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approve or reject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469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469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PLANT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185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This week, this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where suspicion accumulates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throughput and escape rate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coverage by zone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defects by discovery gate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the decision ledger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6460" y="1234440"/>
            <a:ext cx="3582314" cy="26517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6460" y="1234440"/>
            <a:ext cx="3582314" cy="384048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3620" y="1307592"/>
            <a:ext cx="35823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3620" y="1719072"/>
            <a:ext cx="33079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66666"/>
                </a:solidFill>
                <a:latin typeface="Arial"/>
              </a:rPr>
              <a:t>The rollout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3620" y="2029968"/>
            <a:ext cx="330799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value drivers and payback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sensor economics vs retrofit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where instrumentation is worth buying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Arial"/>
              </a:rPr>
              <a:t>• phased rollout and risks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Arial"/>
              </a:rPr>
              <a:t>Throughout, every value carries its provenance: OBSERVED (a sensor read it), INFERRED (we estimated it for a station with none), PREDICTED (it has not happened yet). A supervisor who cannot tell a measurement from an estimate will eventually trust the wrong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Business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Illustrative assumptions, transparent arithmetic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$2,200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contribution margin / vehicle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0531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8547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60/yr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8547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hidden-station disturbances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6159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666666"/>
                </a:solidFill>
                <a:latin typeface="Arial"/>
              </a:rPr>
              <a:t>55%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6159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assumed recovery factor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15755" y="1143000"/>
            <a:ext cx="2673019" cy="105156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771" y="1261872"/>
            <a:ext cx="24169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A100FF"/>
                </a:solidFill>
                <a:latin typeface="Arial"/>
              </a:rPr>
              <a:t>~1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71" y="1746504"/>
            <a:ext cx="24169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Arial"/>
              </a:rPr>
              <a:t>resulting payback (illustrative)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2920" y="2423160"/>
          <a:ext cx="1118585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116"/>
                <a:gridCol w="6254456"/>
                <a:gridCol w="2285282"/>
              </a:tblGrid>
              <a:tr h="3474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Value driver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Evidence class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Directed maintenance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names WHICH station, not "somewhere in body shop"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Fewer defect escapes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attributes a defect-type excess to a source before the next gate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Recovered throughput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constraint found before the shortfall compounds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+ ASSUMPTION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Lower instrumentation need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blind stations become inferable rather than dark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PROTOTYPE RESULT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02920" y="420624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43400"/>
            <a:ext cx="10728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Where this is weakest, stated plainly: the model is dominated by margin per recovered vehicle. On a line that is NOT capacity-constrained, a recovered vehicle is worth almost nothing and the throughput driver collapses — so we would qualify the line before selling that value.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No figure on this slide is measured from a real plant. All inputs are editable in the dashboard.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Sensor economics: we are not competing with the sensor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We are telling you how to spend it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1707"/>
                <a:gridCol w="4377073"/>
                <a:gridCol w="4377073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Retrofit every blind station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RippleTwin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Capital (10 stations)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~$180,000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~$150,000 year 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When it can be installed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scheduled maintenance windows only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against data already recorded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Scope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those 10 stations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every station on the line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Failure mode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sensor dies, station goes dark again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Arial"/>
                        </a:rPr>
                        <a:t>inference degrades, and reports that it has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3337560"/>
            <a:ext cx="11185855" cy="96012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Arial"/>
              </a:rPr>
              <a:t>We do NOT claim zero sensors. Shadow-sensing needs instrumented stations on both sides of a blind one — that is the mechanism. The claim is narrower and testable: the sensors already installed carry more information about their neighbours than a conventional twin extracts.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80560"/>
            <a:ext cx="11185855" cy="868680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17720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The coverage experiment is itself a sensor-placement tool: it shows which blind stations inference already covers, and which genuinely need instrumenting — so the retrofit budget goes where it actually buys something.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Phased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Deliberately slow at the start, because trust is spent once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2–4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Data readiness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PLC timestamps, gate results and build sequence are recoverable and joinable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5694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5694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4C9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5694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5422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8–12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5422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75422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Alerts logged, nobody acts. Precision per station measured on the ledger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8468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8468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8468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38196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12 weeks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196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Live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196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Supervisors see and act. Adoption and precision on real outcomes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1242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91242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1242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70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2 quarters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0970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Plant rollout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0970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Remaining lines; per-line configuration under one week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54016" y="1280160"/>
            <a:ext cx="2134758" cy="2286000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54016" y="1280160"/>
            <a:ext cx="2134758" cy="310896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54016" y="1335024"/>
            <a:ext cx="2134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Arial"/>
              </a:rPr>
              <a:t>PHASE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3744" y="1691640"/>
            <a:ext cx="191530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66666"/>
                </a:solidFill>
                <a:latin typeface="Arial"/>
              </a:rPr>
              <a:t>12 months+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3744" y="1938528"/>
            <a:ext cx="19153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Arial"/>
              </a:rPr>
              <a:t>Multi-plant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63744" y="2286000"/>
            <a:ext cx="191530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A1A1A"/>
                </a:solidFill>
                <a:latin typeface="Arial"/>
              </a:rPr>
              <a:t>Other sites and equipment vintages; baseline transfer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749039"/>
            <a:ext cx="11185855" cy="7772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3877056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Integration is read-only throughout. RippleTwin writes to no control system — the brief notes that modifying live PLCs carries real operational risk, so the prototype does not, and neither should a pilot.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Risks and limitations, stated before you find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68096"/>
            <a:ext cx="11185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66666"/>
                </a:solidFill>
                <a:latin typeface="Arial"/>
              </a:rPr>
              <a:t>The honest version is the one worth reviewing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185853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6665"/>
                <a:gridCol w="1141413"/>
                <a:gridCol w="6277775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Risk / limitation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Severity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73152" marR="54864" marT="18288" marB="18288" anchor="ctr">
                    <a:solidFill>
                      <a:srgbClr val="A10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No real-world validation — everything is synthetic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shadow-mode pilot before any operational claim; validate the flow signature on one real line's PLC logs first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Value depends on the line being capacity-constrained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qualify during Phase 0; do not sell throughput value to an unconstrained plant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Serial-line assumption in the propagation model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the likelihood generalises; the pattern matrix must be rebuilt from the real process graph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Adjacent blind stations are not separable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report the group and abstain; flag as sensor-placement candidates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Alert fatigue kills adoption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threshold from a stated false-alarm target; abstention when ambiguous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An incumbent platform copies the algorithm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the algorithm is not the moat — the outcome ledger and sensor-placement position are</a:t>
                      </a:r>
                    </a:p>
                  </a:txBody>
                  <a:tcPr marL="73152" marR="54864" marT="18288" marB="18288" anchor="ctr">
                    <a:solidFill>
                      <a:srgbClr val="F4ECF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Arial"/>
              </a:rPr>
              <a:t>Full limitations section in the repository README.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11858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FFFFFF"/>
                </a:solidFill>
                <a:latin typeface="Arial"/>
              </a:rPr>
              <a:t>Why this is difficult to dismiss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99032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mechanism is derived, not learned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37360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Conservation of material through a serial line. A judge can check the derivation, and the tests assert it against ground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304288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42316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advantage is isolated, not asserted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761488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B2 is the same model minus hidden candidates. At 100% coverage the two are identical — the gain appears only where instrumentation is missing.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28416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3447288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The claim is falsifiable, and we did the falsifying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" y="3785616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Two of our designs were killed by our own measurements and are documented. The metric that would have flattered us most, we report as under-powered.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52544"/>
            <a:ext cx="11185855" cy="896112"/>
          </a:xfrm>
          <a:prstGeom prst="roundRect">
            <a:avLst>
              <a:gd name="adj" fmla="val 6000"/>
            </a:avLst>
          </a:prstGeom>
          <a:solidFill>
            <a:srgbClr val="F4EC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352544"/>
            <a:ext cx="54864" cy="896112"/>
          </a:xfrm>
          <a:prstGeom prst="rect">
            <a:avLst/>
          </a:prstGeom>
          <a:solidFill>
            <a:srgbClr val="A10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471416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A100FF"/>
                </a:solidFill>
                <a:latin typeface="Arial"/>
              </a:rPr>
              <a:t>It is honest about what it does not know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809744"/>
            <a:ext cx="1063721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Arial"/>
              </a:rPr>
              <a:t>Provenance on every number, abstention when ambiguous, and a limitations section we wrote before anyone asked for 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57784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A100FF"/>
                </a:solidFill>
                <a:latin typeface="Arial"/>
              </a:rPr>
              <a:t>RippleTwin — see the bottleneck before it arrives, even at the stations you can't instrument.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1_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4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Graphik-Semibold"/>
        <a:ea typeface=""/>
        <a:cs typeface=""/>
      </a:majorFont>
      <a:minorFont>
        <a:latin typeface="Graphik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118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Accenture 2025</vt:lpstr>
      <vt:lpstr>1_Titles</vt:lpstr>
      <vt:lpstr>Titles</vt:lpstr>
      <vt:lpstr>1_Office Theme</vt:lpstr>
      <vt:lpstr>1_Accenture 2025</vt:lpstr>
      <vt:lpstr>PowerPoint Presentation</vt:lpstr>
      <vt:lpstr>Instructions Reference slide– Remove before submission</vt:lpstr>
      <vt:lpstr>Team details</vt:lpstr>
      <vt:lpstr>Describe the problem statement (200 words)</vt:lpstr>
      <vt:lpstr>Proposed solution (200 words)</vt:lpstr>
      <vt:lpstr>Video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Tolentino, Ma. Antonette</dc:creator>
  <cp:lastModifiedBy>Gupta, Sumit</cp:lastModifiedBy>
  <cp:revision>3</cp:revision>
  <dcterms:created xsi:type="dcterms:W3CDTF">2026-07-24T04:09:52Z</dcterms:created>
  <dcterms:modified xsi:type="dcterms:W3CDTF">2026-08-12T11:52:50Z</dcterms:modified>
</cp:coreProperties>
</file>